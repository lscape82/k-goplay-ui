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A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킨텍스 인근 엘리베이터 광고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맑은 고딕"/>
              </a:rPr>
              <a:t>광고예산 300만원 맞춤 · 킨텍스 최근접 25개 단지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3822191"/>
            <a:ext cx="502920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B3E6"/>
                </a:solidFill>
                <a:latin typeface="맑은 고딕"/>
              </a:rPr>
              <a:t>엘리베이터 내부 매체 · 2026-09-14 기준 · 광고플레이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맑은 고딕"/>
              </a:rPr>
              <a:t>예산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맑은 고딕"/>
              </a:rPr>
              <a:t>킨텍스 반경 456m ~ 1,737m · 총 25개 단지 · 엘리베이터 내부 매체(L보드 게시판 제외)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맑은 고딕"/>
              </a:rPr>
              <a:t>공급가액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B3A91"/>
                </a:solidFill>
                <a:latin typeface="맑은 고딕"/>
              </a:rPr>
              <a:t>2,990,000원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맑은 고딕"/>
              </a:rPr>
              <a:t>VAT 별도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65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맑은 고딕"/>
              </a:rPr>
              <a:t>부가세 (10%)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9572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64748B"/>
                </a:solidFill>
                <a:latin typeface="맑은 고딕"/>
              </a:rPr>
              <a:t>299,000원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73736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맑은 고딕"/>
              </a:rPr>
              <a:t>총액 (VAT 포함)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9572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53935"/>
                </a:solidFill>
                <a:latin typeface="맑은 고딕"/>
              </a:rPr>
              <a:t>3,289,000원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0896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맑은 고딕"/>
              </a:rPr>
              <a:t>실 청구 예상액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맑은 고딕"/>
              </a:rPr>
              <a:t>매체사별 구성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443484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매체사</a:t>
                      </a:r>
                    </a:p>
                  </a:txBody>
                  <a:tcPr marL="54864" marR="54864" marT="18288" marB="18288" anchor="ctr">
                    <a:solidFill>
                      <a:srgbClr val="0B3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단지 수</a:t>
                      </a:r>
                    </a:p>
                  </a:txBody>
                  <a:tcPr marL="54864" marR="54864" marT="18288" marB="18288" anchor="ctr">
                    <a:solidFill>
                      <a:srgbClr val="0B3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공급가액</a:t>
                      </a:r>
                    </a:p>
                  </a:txBody>
                  <a:tcPr marL="54864" marR="54864" marT="18288" marB="18288" anchor="ctr">
                    <a:solidFill>
                      <a:srgbClr val="0B3A9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B3A91"/>
                          </a:solidFill>
                          <a:latin typeface="맑은 고딕"/>
                        </a:rPr>
                        <a:t>T사</a:t>
                      </a:r>
                    </a:p>
                  </a:txBody>
                  <a:tcPr marL="54864" marR="54864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72033"/>
                          </a:solidFill>
                          <a:latin typeface="맑은 고딕"/>
                        </a:rPr>
                        <a:t>6곳</a:t>
                      </a:r>
                    </a:p>
                  </a:txBody>
                  <a:tcPr marL="54864" marR="54864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72033"/>
                          </a:solidFill>
                          <a:latin typeface="맑은 고딕"/>
                        </a:rPr>
                        <a:t>990,000원</a:t>
                      </a:r>
                    </a:p>
                  </a:txBody>
                  <a:tcPr marL="54864" marR="54864" marT="18288" marB="18288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72033"/>
                          </a:solidFill>
                          <a:latin typeface="맑은 고딕"/>
                        </a:rPr>
                        <a:t>18곳</a:t>
                      </a:r>
                    </a:p>
                  </a:txBody>
                  <a:tcPr marL="54864" marR="54864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72033"/>
                          </a:solidFill>
                          <a:latin typeface="맑은 고딕"/>
                        </a:rPr>
                        <a:t>1,900,000원</a:t>
                      </a:r>
                    </a:p>
                  </a:txBody>
                  <a:tcPr marL="54864" marR="54864" marT="18288" marB="18288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B3A91"/>
                          </a:solidFill>
                          <a:latin typeface="맑은 고딕"/>
                        </a:rPr>
                        <a:t>G사</a:t>
                      </a:r>
                    </a:p>
                  </a:txBody>
                  <a:tcPr marL="54864" marR="54864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72033"/>
                          </a:solidFill>
                          <a:latin typeface="맑은 고딕"/>
                        </a:rPr>
                        <a:t>1곳</a:t>
                      </a:r>
                    </a:p>
                  </a:txBody>
                  <a:tcPr marL="54864" marR="54864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72033"/>
                          </a:solidFill>
                          <a:latin typeface="맑은 고딕"/>
                        </a:rPr>
                        <a:t>100,000원</a:t>
                      </a:r>
                    </a:p>
                  </a:txBody>
                  <a:tcPr marL="54864" marR="54864" marT="18288" marB="18288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B3A91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L="54864" marR="54864" marT="18288" marB="18288" anchor="ctr">
                    <a:solidFill>
                      <a:srgbClr val="EA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B3A91"/>
                          </a:solidFill>
                          <a:latin typeface="맑은 고딕"/>
                        </a:rPr>
                        <a:t>25곳</a:t>
                      </a:r>
                    </a:p>
                  </a:txBody>
                  <a:tcPr marL="54864" marR="54864" marT="18288" marB="18288" anchor="ctr">
                    <a:solidFill>
                      <a:srgbClr val="EA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0B3A91"/>
                          </a:solidFill>
                          <a:latin typeface="맑은 고딕"/>
                        </a:rPr>
                        <a:t>2,990,000원</a:t>
                      </a:r>
                    </a:p>
                  </a:txBody>
                  <a:tcPr marL="54864" marR="54864" marT="18288" marB="18288" anchor="ctr">
                    <a:solidFill>
                      <a:srgbClr val="EAF0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448056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맑은 고딕"/>
              </a:rPr>
              <a:t>※ 비용은 매체사 기준 청구액입니다.
   (타운보드·미디어믿 = 월, 포커스 = 4주)
※ 전 항목 VAT 별도, 총액은 부가세 포함 예상액.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맑은 고딕"/>
              </a:rPr>
              <a:t>단지 리스트 — 매체사별 · 킨텍스 최근접 25개 (300만원 예산)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804672"/>
          <a:ext cx="10607040" cy="51709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40080"/>
                <a:gridCol w="731520"/>
                <a:gridCol w="2148840"/>
                <a:gridCol w="2971800"/>
                <a:gridCol w="777240"/>
                <a:gridCol w="731520"/>
                <a:gridCol w="640080"/>
                <a:gridCol w="914400"/>
                <a:gridCol w="1051560"/>
              </a:tblGrid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매체사</a:t>
                      </a:r>
                    </a:p>
                  </a:txBody>
                  <a:tcPr marL="54864" marR="54864" marT="18288" marB="18288" anchor="ctr">
                    <a:solidFill>
                      <a:srgbClr val="0B3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거리(m)</a:t>
                      </a:r>
                    </a:p>
                  </a:txBody>
                  <a:tcPr marL="54864" marR="54864" marT="18288" marB="18288" anchor="ctr">
                    <a:solidFill>
                      <a:srgbClr val="0B3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단지명</a:t>
                      </a:r>
                    </a:p>
                  </a:txBody>
                  <a:tcPr marL="54864" marR="54864" marT="18288" marB="18288" anchor="ctr">
                    <a:solidFill>
                      <a:srgbClr val="0B3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주소 (고양시 이하)</a:t>
                      </a:r>
                    </a:p>
                  </a:txBody>
                  <a:tcPr marL="54864" marR="54864" marT="18288" marB="18288" anchor="ctr">
                    <a:solidFill>
                      <a:srgbClr val="0B3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평형</a:t>
                      </a:r>
                    </a:p>
                  </a:txBody>
                  <a:tcPr marL="54864" marR="54864" marT="18288" marB="18288" anchor="ctr">
                    <a:solidFill>
                      <a:srgbClr val="0B3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세대수</a:t>
                      </a:r>
                    </a:p>
                  </a:txBody>
                  <a:tcPr marL="54864" marR="54864" marT="18288" marB="18288" anchor="ctr">
                    <a:solidFill>
                      <a:srgbClr val="0B3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모니터</a:t>
                      </a:r>
                    </a:p>
                  </a:txBody>
                  <a:tcPr marL="54864" marR="54864" marT="18288" marB="18288" anchor="ctr">
                    <a:solidFill>
                      <a:srgbClr val="0B3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대당단가(원)</a:t>
                      </a:r>
                    </a:p>
                  </a:txBody>
                  <a:tcPr marL="54864" marR="54864" marT="18288" marB="18288" anchor="ctr">
                    <a:solidFill>
                      <a:srgbClr val="0B3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공급가액(원)</a:t>
                      </a:r>
                    </a:p>
                  </a:txBody>
                  <a:tcPr marL="54864" marR="54864" marT="18288" marB="18288" anchor="ctr">
                    <a:solidFill>
                      <a:srgbClr val="0B3A91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T사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456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장성마을대명4단지아파트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호수로 896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37,46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162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60,000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T사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530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한화포레나킨텍스오피스텔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킨텍스로 240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780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120,000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T사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624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[오피스텔] 일산더샵그라비스타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킨텍스로 217-23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1,020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51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510,000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T사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1,066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킨텍스양우내안애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대화1로 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23,31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655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190,000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T사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1,132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문촌마을7단지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킨텍스로 340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19,20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505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70,000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T사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1,737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강선마을11단지태영아파트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중앙로 1388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344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585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장성마을2단지대명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일산로 790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591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70,000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621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문촌마을19단지신우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킨텍스로 284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658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240,000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742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[오피스텔] 삼운트루아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중앙로 1557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239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755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문촌14단지세경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킨텍스로 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720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60,000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854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[오피스텔] 일산한류월드유보라더스마트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일산동구 태극로 11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41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924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90,000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856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[오피스텔] 동남아트월드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일산로 757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920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킨텍스아이파크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고양대로255번길 46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44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811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240,000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922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[오피스텔] 시티빌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강성로 271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967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대화성저마을2단지세경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강성로 256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390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1,016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문촌13단지대우유토피아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중앙로 1471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80,000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1,132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일산문촌7(임대)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킨텍스로 340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645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1,145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[오피스텔] 대우시티프라자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중앙로 1455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1,230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성저동익1단지아파트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대산로 249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640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23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230,000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1,293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[오피스텔] 한류월드시티프라디움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일산동구 연리지로 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345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70,000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1,342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문촌마을6단지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대산로 183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624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160,000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1,353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강선두산아파트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강선로 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792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160,000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1,363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문촌마을5단지쌍용한일아파트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대산로 161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49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432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140,000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F사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1,426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[아파트] 대화마을한라비발디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대화2로 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460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120,000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3A91"/>
                          </a:solidFill>
                          <a:latin typeface="맑은 고딕"/>
                        </a:rPr>
                        <a:t>G사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805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[오피스텔] 고양일산신세계하이투모로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일산서구 중앙로 1581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720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</a:rPr>
                        <a:t>100,000</a:t>
                      </a:r>
                    </a:p>
                  </a:txBody>
                  <a:tcPr marL="54864" marR="54864" marT="18288" marB="18288" anchor="ctr">
                    <a:solidFill>
                      <a:srgbClr val="EEF2FA"/>
                    </a:solidFill>
                  </a:tcPr>
                </a:tc>
              </a:tr>
              <a:tr h="178308">
                <a:tc gridSpan="8"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3A91"/>
                          </a:solidFill>
                          <a:latin typeface="맑은 고딕"/>
                        </a:rPr>
                        <a:t>공급가액 합계</a:t>
                      </a:r>
                    </a:p>
                  </a:txBody>
                  <a:tcPr marL="54864" marR="54864" marT="18288" marB="18288" anchor="ctr">
                    <a:solidFill>
                      <a:srgbClr val="EAF0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3A91"/>
                          </a:solidFill>
                          <a:latin typeface="맑은 고딕"/>
                        </a:rPr>
                        <a:t>2,990,000</a:t>
                      </a:r>
                    </a:p>
                  </a:txBody>
                  <a:tcPr marL="54864" marR="54864" marT="18288" marB="18288" anchor="ctr">
                    <a:solidFill>
                      <a:srgbClr val="EAF0FF"/>
                    </a:solidFill>
                  </a:tcPr>
                </a:tc>
              </a:tr>
              <a:tr h="178308">
                <a:tc gridSpan="8"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64748B"/>
                          </a:solidFill>
                          <a:latin typeface="맑은 고딕"/>
                        </a:rPr>
                        <a:t>부가세 (10%)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64748B"/>
                          </a:solidFill>
                          <a:latin typeface="맑은 고딕"/>
                        </a:rPr>
                        <a:t>299,000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78308">
                <a:tc gridSpan="8"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총액 (VAT 포함)</a:t>
                      </a:r>
                    </a:p>
                  </a:txBody>
                  <a:tcPr marL="54864" marR="54864" marT="18288" marB="18288" anchor="ctr">
                    <a:solidFill>
                      <a:srgbClr val="E5393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3,289,000</a:t>
                      </a:r>
                    </a:p>
                  </a:txBody>
                  <a:tcPr marL="54864" marR="54864" marT="18288" marB="18288" anchor="ctr">
                    <a:solidFill>
                      <a:srgbClr val="E5393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55664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※ 매체사별 그룹 · 거리순 · 주소 '경기도 고양시' 이하 · 공급가액 = 모니터수 × 대당단가 · 비용 VAT 별도(총액=부가세 포함)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